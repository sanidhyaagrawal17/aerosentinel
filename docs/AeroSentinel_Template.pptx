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Cloud Pipeline
(remote hangar)</c:v>
                  </c:pt>
                  <c:pt idx="1">
                    <c:v>AeroSentinel
(Edge)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0.03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Minutes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project. Emphasize: fully offline, runs on a laptop, no cloud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compounding problems: fatigue-driven human error + cloud latency. The gap is the combination of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pillars: edge-first, optimized model, explainability, full MRO workflow. All four are necessary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 left to right. Emphasize the Grad-CAM branch is on-demand (ONNX incompatibility). Mention the three callouts at the bottom match the core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dashboard mockup. Key: everything runs in the browser locally. PDF export happens offline. No network calls at any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explain the Grad-CAM/ONNX incompatibility in detail — this is the question most technically sophisticated judges will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layers, each with a specific role. Judges will likely probe: why ONNX over TFLite, why static PTQ over dynamic, why Streamlit over custom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is the money shot — 180 minutes vs 0.03 minutes. Let it land. Then walk through the four impact bullets.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holds the video. Step 1 (network disabled) is the most important — it proves the offline claim before you even show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two (OpenVINO + QAT) are near-term technical iterations. Real aerospace dataset is the biggest accuracy unlock. Learned severity classifier is the production readiness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want to see this is achievable. 14 days is realistic with the structured phases. The InnoVent timeline shows Virtual POC is October — that's the real build deadline, not the form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Reiterate the three-word tagline. Thank judges and open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194560"/>
            <a:ext cx="53035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457200"/>
            <a:ext cx="1097280" cy="10972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6858000" y="2011680"/>
            <a:ext cx="1828800" cy="1828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6576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365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TEAM CYGNUS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2103120" y="36576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112244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103120" y="365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B6D4"/>
                </a:solidFill>
              </a:rPr>
              <a:t>TATA TECHNOLOGIES INNOVENT 2026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457200" y="9144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AeroSentinel</a:t>
            </a:r>
            <a:endParaRPr lang="en-US" sz="5200" dirty="0"/>
          </a:p>
        </p:txBody>
      </p:sp>
      <p:sp>
        <p:nvSpPr>
          <p:cNvPr id="11" name="Text 7"/>
          <p:cNvSpPr/>
          <p:nvPr/>
        </p:nvSpPr>
        <p:spPr>
          <a:xfrm>
            <a:off x="457200" y="1874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Edge-Native Intelligence for Aerospace MRO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57200" y="2377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Real-Time Aircraft Surface Defect Detection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3291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Medi-Caps University, Indore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7200" y="36393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— Pre-Final Year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398678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Edge AI  |  Aerospace MRO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058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960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Inspection Failures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64592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visual inspection is still the industry standard. Inspector fatigue, inconsistent hangar lighting, and subjective judgment lead to missed defects. Aviation safety bodies consistently cite human error during MRO as a top contributor to aircraft incidents.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86868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00584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960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Dependency in the Field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074920" y="164592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inspection tools route imagery to centralized cloud servers. In remote hangars, forward operating bases, and island airports — where MRO is most critical — bandwidth is limited or absent. Latency stretches from seconds to hours, grounding aircraft when every minute counts.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44805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No reliable, offline-capable AI system exists for real-time MRO defect detection independent of network infrastructure.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0C23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Build a fully offline, software-defined computer vision pipeline that detects aircraft surface defects in real-time on standard CPU hardware — with zero cloud or network dependency at any stage.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5740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Edge-First Design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3832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runs entirely on a local CPU using ONNX Runtime. No cloud calls at any stage.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68880" y="192024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205740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60320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Optimized Model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560320" y="33832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fine-tuned on industrial defect data, exported to INT8 ONNX via Static PTQ for &lt;30ms latency.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572000" y="192024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05740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63440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663440" y="33832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overlays show technicians exactly what drove each detection — not just a bounding box.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675120" y="192024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057400"/>
            <a:ext cx="640080" cy="6400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66560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Workflow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766560" y="33832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image capture to offline PDF maintenance report, the complete MRO workflow runs air-gapped.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Overview — 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04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9875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536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728216" y="1417320"/>
            <a:ext cx="338328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9144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03120" y="9875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1536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+ Resize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511296" y="1417320"/>
            <a:ext cx="338328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86200" y="9144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86200" y="9875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Inference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86200" y="1536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INT8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294376" y="1417320"/>
            <a:ext cx="338328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0" y="9144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0" y="9875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0" y="1536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+ Severity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077456" y="1417320"/>
            <a:ext cx="338328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52360" y="9144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52360" y="9875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52360" y="1536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PDF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383280" y="233172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(On-Demand)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.pt — Explainability Layer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480560" y="1920240"/>
            <a:ext cx="0" cy="411480"/>
          </a:xfrm>
          <a:prstGeom prst="line">
            <a:avLst/>
          </a:prstGeom>
          <a:noFill/>
          <a:ln w="19050">
            <a:solidFill>
              <a:srgbClr val="D97706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365760" y="324612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364992"/>
            <a:ext cx="411480" cy="41148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005840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Air-Gapped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30352" y="3840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bytes leave the device. Sensitive MRO data never crosses a network.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200400" y="324612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3364992"/>
            <a:ext cx="411480" cy="41148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3840480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&lt;30ms Per Frame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3364992" y="3840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INT8 PTQ locks activation ranges. Real-time on any i5-class CPU.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035040" y="324612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3364992"/>
            <a:ext cx="411480" cy="41148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675120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Dual-Model Design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6199632" y="3840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for speed. PyTorch retained on-demand for Grad-CAM explainability.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Deep Dive — Dashboard &amp; Reporting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5029200" cy="4023360"/>
          </a:xfrm>
          <a:prstGeom prst="roundRect">
            <a:avLst>
              <a:gd name="adj" fmla="val 2727"/>
            </a:avLst>
          </a:prstGeom>
          <a:solidFill>
            <a:srgbClr val="0C23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14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(Local Browser)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1280160" cy="3383280"/>
          </a:xfrm>
          <a:prstGeom prst="rect">
            <a:avLst/>
          </a:prstGeom>
          <a:solidFill>
            <a:srgbClr val="07183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17320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173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Upload Image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66928" y="2011680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112244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01168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Live Camera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66928" y="2606040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112244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6060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Confidence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66928" y="3200400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112244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2004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Severity Filter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66928" y="3794760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112244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7947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Export PDF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920240" y="1371600"/>
            <a:ext cx="3291840" cy="2011680"/>
          </a:xfrm>
          <a:prstGeom prst="roundRect">
            <a:avLst>
              <a:gd name="adj" fmla="val 2727"/>
            </a:avLst>
          </a:prstGeom>
          <a:solidFill>
            <a:srgbClr val="07183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13716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5070"/>
                </a:solidFill>
              </a:rPr>
              <a:t>[Annotated Aircraft Frame]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68880" y="1645920"/>
            <a:ext cx="822960" cy="548640"/>
          </a:xfrm>
          <a:prstGeom prst="rect">
            <a:avLst/>
          </a:prstGeom>
          <a:solidFill>
            <a:srgbClr val="DC2626">
              <a:alpha val="20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15087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CRITICAL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92%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657600" y="2103120"/>
            <a:ext cx="640080" cy="457200"/>
          </a:xfrm>
          <a:prstGeom prst="rect">
            <a:avLst/>
          </a:prstGeom>
          <a:solidFill>
            <a:srgbClr val="D97706">
              <a:alpha val="20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199339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MEDIUM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78%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920240" y="3474720"/>
            <a:ext cx="3291840" cy="1234440"/>
          </a:xfrm>
          <a:prstGeom prst="roundRect">
            <a:avLst>
              <a:gd name="adj" fmla="val 4444"/>
            </a:avLst>
          </a:prstGeom>
          <a:solidFill>
            <a:srgbClr val="07183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6596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Defect Log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965960" y="382219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770632" y="382219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575304" y="382219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379976" y="382219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965960" y="409651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14:32:01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70632" y="409651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Corrosion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575304" y="409651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379976" y="409651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965960" y="437083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14:32:04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70632" y="437083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575304" y="437083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379976" y="437083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896112"/>
            <a:ext cx="347472" cy="347472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6108192" y="868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Annotated Feed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108192" y="12618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 with class labels, confidence and severity tier drawn per frame.</a:t>
            </a:r>
            <a:endParaRPr lang="en-US" sz="950" dirty="0"/>
          </a:p>
        </p:txBody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83664"/>
            <a:ext cx="347472" cy="347472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6108192" y="18562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Heatmap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6108192" y="22494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spatial risk map overlaid on aircraft silhouette.</a:t>
            </a:r>
            <a:endParaRPr lang="en-US" sz="950" dirty="0"/>
          </a:p>
        </p:txBody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871216"/>
            <a:ext cx="347472" cy="347472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6108192" y="28437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Timestamped Defect Log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6108192" y="32369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 table: class, confidence, severity, bounding box coordinates.</a:t>
            </a:r>
            <a:endParaRPr lang="en-US" sz="950" dirty="0"/>
          </a:p>
        </p:txBody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3858768"/>
            <a:ext cx="347472" cy="347472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6108192" y="38313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PDF Report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6108192" y="42245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fpdf2 report: aircraft ID, date, annotated images, sign-off block. Zero network calls.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605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32688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326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CRITICAL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371600" y="91440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 Dataset Domain Gap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Challenge: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34440" y="129844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 dataset is flat steel imagery. Aircraft surfaces are curved, painted, and lit differently in hangars.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Mitigation: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34440" y="1911096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Albumentations augmentation: perspective warps, CLAHE contrast shifts, synthetic crack overlays, hangar lighting simulation — applied before training.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822960"/>
            <a:ext cx="41605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92040" y="932688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9326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CRITICAL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806440" y="91440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Grad-CAM / ONNX Incompatibility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3258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Challenge: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0" y="129844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requires PyTorch autograd graph. ONNX Runtime decouples the model from PyTorch — Grad-CAM cannot run on ONNX models.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19385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Mitigation: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0" y="1911096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Dual-model architecture: ONNX Runtime for primary inference. PyTorch .pt model retained separately, loaded on-demand for explainability, then unloaded to free RAM.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971800"/>
            <a:ext cx="41605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081528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081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MODERATE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371600" y="306324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INT8 Quantization Accuracy Drop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4747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Challenge: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34440" y="344728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PTQ can degrade small-object detection (hairline cracks, small fasteners) — the exact defects that matter most.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0873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Mitigation: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34440" y="4059936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quantization (vs per-tensor). Decision matrix: drop &lt;2% → ship; drop 2–4% → per-channel retry; drop &gt;4% → escalate to QAT.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971800"/>
            <a:ext cx="41605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3081528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081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MODERATE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806440" y="306324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Heuristic Severity Triage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34747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Challenge: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0" y="344728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learned severity classifier exists for this PoC scope. Rule-based triage on detection area × confidence is not aerospace-grade.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92040" y="40873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Mitigation: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69280" y="4059936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explicitly as a PoC-scope simplification. Production path: trained classifier head validated against ASME/SAE defect grading standards.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Implementation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07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9144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14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Training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12252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PyTorch + Ultralytics YOLOv8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from COCO. 100-150 epochs, batch 16, img 640.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46120" y="82296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5848" y="9144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914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Augmentation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83280" y="12252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Albumentations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15727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warp, CLAHE, brightness, synthetic crack overlay.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72200" y="82296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81928" y="9144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914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Export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309360" y="12252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ONNX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15727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Framework-agnostic model format. Dynamic axes for flexible input.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24028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" y="233172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2331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Quantization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57200" y="26426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ONNX Runtime PTQ (INT8)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99008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PTQ with CalibrationDataReader on 100 augmented images. Per-channel.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46120" y="224028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55848" y="233172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2331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Inference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383280" y="26426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ONNX Runtime (CPU Provider)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299008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&lt;30ms per frame. No GPU. InferenceSession + NMS post-processing.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72200" y="224028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81928" y="233172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81928" y="2331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Vision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309360" y="26426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OpenCV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299008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640×640, normalize, CLAHE on grayscale channel.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365760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29768" y="374904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" y="3749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Explainability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57200" y="40599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pytorch-grad-cam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40740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On-demand. Last conv layer hook. Heatmap overlaid on source frame.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46120" y="365760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355848" y="374904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55848" y="3749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Dashboard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383280" y="40599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83280" y="440740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browser UI. st.cache_resource for model warmup.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72200" y="365760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81928" y="374904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81928" y="3749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Reports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309360" y="40599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fpdf2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09360" y="440740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PDF. Header, annotated images, defect table, sign-off block.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Impact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08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9144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&lt;30ms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per frame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CPU hardware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50592" y="82296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9144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50592" y="16002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 target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test set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81144" y="82296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81144" y="9144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~75%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81144" y="16002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 reduction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 → INT8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11696" y="82296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11696" y="9144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30-45%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711696" y="16002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downtime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(projected)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2377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Latency Comparison</a:t>
            </a:r>
            <a:endParaRPr lang="en-US" sz="11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320040" y="2697480"/>
          <a:ext cx="39319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450592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074920" y="2423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 → Seconds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074920" y="27706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2-6hr cloud lag compressed to &lt;30ms at the point of inspection.</a:t>
            </a:r>
            <a:endParaRPr lang="en-US" sz="9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20040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74920" y="3172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$10K-$150K/hr Saved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074920" y="3520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MRO turnaround directly cuts costly aircraft downtime.</a:t>
            </a:r>
            <a:endParaRPr lang="en-US" sz="9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950208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074920" y="39227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Fatigue Error Eliminated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074920" y="4270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maintains consistent &gt;85% mAP regardless of shift length.</a:t>
            </a:r>
            <a:endParaRPr lang="en-US" sz="9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700016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074920" y="46725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Data Exposure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074920" y="50200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structural data stays on the local edge device. Air-gapped.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09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5486400" cy="4069080"/>
          </a:xfrm>
          <a:prstGeom prst="roundRect">
            <a:avLst>
              <a:gd name="adj" fmla="val 2697"/>
            </a:avLst>
          </a:prstGeom>
          <a:solidFill>
            <a:srgbClr val="07183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1645920"/>
            <a:ext cx="1280160" cy="1280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3063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Demo Video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65760" y="3566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90-second screen recording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 be embedded / linked in Drive folder)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26480" y="822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Script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26480" y="126187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0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492240" y="1261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network adapter disabled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26480" y="166420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49224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Streamlit dashboard (local)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26480" y="206654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492240" y="20665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sample defect image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26480" y="246888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2648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49224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&lt;30ms, bounding boxes + severity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126480" y="287121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2648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492240" y="2871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defect log table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126480" y="327355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2648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492240" y="3273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Grad-CAM heatmap overlay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126480" y="367588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2648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492240" y="3675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severity heatmap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126480" y="407822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26480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492240" y="40782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offline PDF report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126480" y="448056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26480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9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492240" y="4480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Confirm: network still disabled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96012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9326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OpenVINO Optimization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44475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Intel OpenVINO INT8 for x86 CPUs. Projected 40-50% further latency reduction over ONNX Runtime on Intel hardware.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00400" y="82296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96012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40480" y="9326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Quantization-Aware Training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337560" y="144475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Static PTQ accuracy drop exceeds threshold, retrain with simulated INT8 precision using QAT — forces the model to adapt to quantization during learning.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080760" y="82296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96012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20840" y="9326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Aerospace Dataset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6217920" y="144475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NEU with actual aerospace inspection imagery (fuselage, nacelle, wing surfaces) to fully close the domain gap from flat steel to curved aircraft surfaces.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320040" y="288036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01752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29900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Learned Severity Classifier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57200" y="350215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heuristic area×confidence triage with a trained classifier head, validated against ASME/SAE defect grading standards for production-grade severity scoring.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3200400" y="288036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017520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40480" y="29900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Fleet-Level Aggregation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3337560" y="350215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multi-aircraft defect tracking across a fleet. Detect systemic structural patterns across registration IDs over time.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6080760" y="288036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3017520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20840" y="29900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Security Module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6217920" y="350215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HSM-based authentication for report signing, ensuring tamper-proof maintenance records acceptable to airworthiness regulators.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 — 14-Day PoC 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03327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F"/>
                </a:solidFill>
              </a:rPr>
              <a:t>Days 1–4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Training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NEU dataset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augment_offline()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YOLOv8n/s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≥90% mAP baseline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920240" y="1097280"/>
            <a:ext cx="128016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77724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7772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57400" y="103327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F"/>
                </a:solidFill>
              </a:rPr>
              <a:t>Days 5–6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057400" y="132588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057400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Optimization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48840" y="17373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ONNX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PTQ with CalibrationDataReader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INT8 mAP drop &lt;2%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&lt;30ms on CPU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57600" y="1097280"/>
            <a:ext cx="128016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94760" y="77724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7772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94760" y="103327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F"/>
                </a:solidFill>
              </a:rPr>
              <a:t>Days 7–9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794760" y="132588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794760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Pipeline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86200" y="17373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preprocessing module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InferenceSession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severity triage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on-demand integration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94960" y="1097280"/>
            <a:ext cx="128016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32120" y="77724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7772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32120" y="103327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F"/>
                </a:solidFill>
              </a:rPr>
              <a:t>Days 10–12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532120" y="132588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532120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Reports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23560" y="17373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local dashboard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heatmap overlay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defect log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fpdf2 offline PDF report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132320" y="1097280"/>
            <a:ext cx="128016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69480" y="77724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7772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269480" y="103327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E8FF"/>
                </a:solidFill>
              </a:rPr>
              <a:t>Days 13–15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269480" y="132588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0C234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269480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Demo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360920" y="17373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offline validation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(Win + Linux)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+ setup script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90-second demo recording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2004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InnoVent Timeline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0040" y="3657600"/>
            <a:ext cx="8503920" cy="0"/>
          </a:xfrm>
          <a:prstGeom prst="line">
            <a:avLst/>
          </a:prstGeom>
          <a:noFill/>
          <a:ln w="25400">
            <a:solidFill>
              <a:srgbClr val="1E406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2608" y="3493008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-320040" y="38587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-320040" y="4315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July 2026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035808" y="3493008"/>
            <a:ext cx="320040" cy="3200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23160" y="38587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Build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423160" y="4315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~July 2026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779008" y="3493008"/>
            <a:ext cx="320040" cy="3200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66360" y="38587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POC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166360" y="4315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2026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522208" y="3493008"/>
            <a:ext cx="320040" cy="3200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09560" y="38587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909560" y="4315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AeroSentinel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Edge-Native Intelligence for Aerospace MRO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Cygnus  |  Medi-Caps University, Indore  |  Tata Technologies InnoVent 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160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Offline. Real-Time. Explainable.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5079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cloud. No latency. No missed defects.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AeroSentinel — InnoVent 2026</dc:title>
  <dc:subject>PptxGenJS Presentation</dc:subject>
  <dc:creator>Team Cygnus</dc:creator>
  <cp:lastModifiedBy>Team Cygnus</cp:lastModifiedBy>
  <cp:revision>1</cp:revision>
  <dcterms:created xsi:type="dcterms:W3CDTF">2026-07-04T15:35:27Z</dcterms:created>
  <dcterms:modified xsi:type="dcterms:W3CDTF">2026-07-04T15:35:27Z</dcterms:modified>
</cp:coreProperties>
</file>