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Cloud Pipeline
(remote hangar)</c:v>
                  </c:pt>
                  <c:pt idx="1">
                    <c:v>AeroSentinel
(Edge)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project. Emphasize: fully offline, runs on a laptop, no cloud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compounding problems: fatigue-driven human error + cloud latency. The gap is the combination of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edge-first, optimized model, explainability, full MRO workflow. All four are necessary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Emphasize the Grad-CAM branch is on-demand (ONNX incompatibility). Mention the three callouts at the bottom match the core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mockup. Key: everything runs in the browser locally. PDF export happens offline. No network calls at any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the Grad-CAM/ONNX incompatibility in detail — this is the question most technically sophisticated judges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layers, each with a specific role. Judges will likely probe: why ONNX over TFLite, why static PTQ over dynamic, why Streamlit over custom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money shot — 180 minutes vs 0.03 minutes. Let it land. Then walk through the four impact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holds the video. Step 1 (network disabled) is the most important — it proves the offline claim before you even show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two (OpenVINO + QAT) are near-term technical iterations. Real aerospace dataset is the biggest accuracy unlock. Learned severity classifier is the production readiness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want to see this is achievable. 14 days is realistic with the structured phases. The InnoVent timeline shows Virtual POC is October — that's the real build deadline, not the form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Reiterate the three-word tagline. Thank judges and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194560"/>
            <a:ext cx="53035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572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6858000" y="2011680"/>
            <a:ext cx="18288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65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457200" y="365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TEAM CYGNUS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103120" y="3657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12244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210312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TATA TECHNOLOGIES INNOVENT 2026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AeroSentinel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Intelligence for Aerospace MRO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" y="2377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Real-Time Aircraft Surface Defect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Medi-Caps University, Indore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3639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— Pre-Final Year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Edge AI  |  Aerospace MRO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Inspection Failures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is still the industry standard. Inspector fatigue, inconsistent hangar lighting, and subjective judgment lead to missed defects. Aviation safety bodies consistently cite human error during MRO as a top contributor to aircraft incidents.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8686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058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960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Dependency in the Field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74920" y="16459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inspection tools route imagery to centralized cloud servers. In remote hangars, forward operating bases, and island airports — where MRO is most critical — bandwidth is limited or absent. Latency stretches from seconds to hours, grounding aircraft when every minute counts.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reliable, offline-capable AI system exists for real-time MRO defect detection independent of network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fully offline, software-defined computer vision pipeline that detects aircraft surface defects in real-time on standard CPU hardware — with zero cloud or network dependency at any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Edge-First 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entirely on a local CPU using ONNX Runtime. No cloud calls at any stage.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057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Model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fine-tuned on industrial defect data, exported to INT8 ONNX via Static PTQ for &lt;30ms latency.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574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6344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overlays show technicians exactly what drove each detection — not just a bounding box.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7512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5740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Workflow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76656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 capture to offline PDF maintenance report, the complete MRO workflow runs air-gapped.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 —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2821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10312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Resize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1129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88620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8620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Inference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INT8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9437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66928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+ Severity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7745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5236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5236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PDF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3317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38328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(On-Demand)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.pt — Explainability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920240"/>
            <a:ext cx="0" cy="41148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364992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Air-Gapped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035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bytes leave the device. Sensitive MRO data never crosses a network.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0040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364992"/>
            <a:ext cx="411480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8404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&lt;30ms Per Frame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36499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INT8 PTQ locks activation ranges. Real-time on any i5-class CPU.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03504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364992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7512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Dual-Model Design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19963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for speed. PyTorch retained on-demand for Grad-CAM explainability.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Deep Dive — Dashboard &amp; Reporting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914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(Local Browser)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280160" cy="3383280"/>
          </a:xfrm>
          <a:prstGeom prst="rect">
            <a:avLst/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" y="141732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Upload Image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Live Camera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60604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606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2004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Severity Filter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37947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Export PDF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0" y="1371600"/>
            <a:ext cx="3291840" cy="2011680"/>
          </a:xfrm>
          <a:prstGeom prst="roundRect">
            <a:avLst>
              <a:gd name="adj" fmla="val 2727"/>
            </a:avLst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920240" y="13716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070"/>
                </a:solidFill>
              </a:rPr>
              <a:t>[Annotated Aircraft Frame]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1645920"/>
            <a:ext cx="822960" cy="548640"/>
          </a:xfrm>
          <a:prstGeom prst="rect">
            <a:avLst/>
          </a:prstGeom>
          <a:solidFill>
            <a:srgbClr val="DC2626">
              <a:alpha val="20000"/>
            </a:srgbClr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6888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CRITICAL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92%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0" y="2103120"/>
            <a:ext cx="640080" cy="457200"/>
          </a:xfrm>
          <a:prstGeom prst="rect">
            <a:avLst/>
          </a:prstGeom>
          <a:solidFill>
            <a:srgbClr val="D97706">
              <a:alpha val="20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0" y="19933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MEDIUM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78%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920240" y="34747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9659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Defect Log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65960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70632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75304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79976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65960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14:32:01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70632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75304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79976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65960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14:32:04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632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75304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79976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896112"/>
            <a:ext cx="347472" cy="34747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108192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Annotated Feed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08192" y="1261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with class labels, confidence and severity tier drawn per frame.</a:t>
            </a:r>
            <a:endParaRPr lang="en-US" sz="9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83664"/>
            <a:ext cx="347472" cy="34747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108192" y="1856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Heatmap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108192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spatial risk map overlaid on aircraft silhouette.</a:t>
            </a:r>
            <a:endParaRPr lang="en-US" sz="95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871216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108192" y="2843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Timestamped Defect Log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108192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table: class, confidence, severity, bounding box coordinates.</a:t>
            </a:r>
            <a:endParaRPr lang="en-US" sz="95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858768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108192" y="3831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PDF Report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6108192" y="4224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report: aircraft ID, date, annotated images, sign-off block. Zero network calls.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9326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932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 Dataset Domain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2984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dataset is flat steel imagery. Aircraft surfaces are curved, painted, and lit differently in hangars.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91109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Albumentations augmentation: perspective warps, CLAHE contrast shifts, synthetic crack overlays, hangar lighting simulation — applied before training.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92040" y="9326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92040" y="932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06440" y="914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/ ONNX Incompatibility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325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2984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requires PyTorch autograd graph. ONNX Runtime decouples the model from PyTorch — Grad-CAM cannot run on ONNX models.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191109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architecture: ONNX Runtime for primary inference. PyTorch .pt model retained separately, loaded on-demand for explainability, then unloaded to free RAM.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 Quantization Accuracy Drop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3447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can degrade small-object detection (hairline cracks, small fasteners) — the exact defects that matter most.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087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40599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quantization (vs per-tensor). Decision matrix: drop &lt;2% → ship; drop 2–4% → per-channel retry; drop &gt;4% → escalate to QAT.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892040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9204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0644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Severity Triage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3447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learned severity classifier exists for this PoC scope. Rule-based triage on detection area × confidence is not aerospace-grade.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087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40599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explicitly as a PoC-scope simplification. Production path: trained classifier head validated against ASME/SAE defect grading standards.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2976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976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+ Ultralytics YOLOv8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GPU. Transfer learning. 100 epochs, batch 16, img 640.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5584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5584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Augmentation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Albumentations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warp, CLAHE, brightness, synthetic crack overlay.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8192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8192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Export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model format. Dynamic axes for flexible input.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976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976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Quantization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720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 PTQ (INT8)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with CalibrationDataReader on 100 augmented images. Per-channel.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35584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5584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Inference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 (CPU Provider)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&lt;30ms per frame. No GPU. InferenceSession + NMS post-processing.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8192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8192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Vision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640×640, normalize, CLAHE on grayscale channel.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2976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2976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pytorch-grad-cam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On-demand. Last conv layer hook. Heatmap overlaid on source frame.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35584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35584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8328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browser UI. st.cache_resource for model warmup.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28192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28192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Reports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0936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fpdf2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PDF. Header, annotated images, defect table, sign-off block.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per frame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CPU hardware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81144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81144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reduction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INT8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11696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11696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11696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downtime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(projected)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Latency Comparison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6974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059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2423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Seconds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74920" y="2770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2-6hr cloud lag compressed to &lt;30ms at the point of inspection.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7492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$10K-$150K/hr Saved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7492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MRO turnaround directly cuts costly aircraft downtime.</a:t>
            </a:r>
            <a:endParaRPr lang="en-US" sz="9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95020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74920" y="3922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Error Eliminated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7492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maintains consistent &gt;85% mAP regardless of shift length.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700016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74920" y="4672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Exposure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74920" y="5020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structural data stays on the local edge device. Air-gapped.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0718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459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Demo Video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screen recording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be embedded / linked in Drive folder)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2618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2648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9224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network adapter disabled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1664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264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922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Streamlit dashboard (local)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20665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264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9224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sample defect image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24688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1264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922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&lt;30ms, bounding boxes + severity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26480" y="28712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12648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49224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defect log table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2735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1264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9224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Grad-CAM heatmap overlay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26480" y="367588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2648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49224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severity heatmap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26480" y="40782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1264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92240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offline PDF report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126480" y="44805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12648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49224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network still disabled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9601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OpenVINO 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Intel OpenVINO INT8 for x86 CPUs. Projected 40-50% further latency reduction over ONNX Runtime on Intel hardware.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9601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Quantization-Aware Training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3756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Static PTQ accuracy drop exceeds threshold, retrain with simulated INT8 precision using QAT — forces the model to adapt to quantization during learning.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076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9601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Aerospace Dataset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1792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NEU with actual aerospace inspection imagery (fuselage, nacelle, wing surfaces) to fully close the domain gap from flat steel to curved aircraft surfaces.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004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1752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Severity Classifier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area×confidence triage with a trained classifier head, validated against ASME/SAE defect grading standards for production-grade severity scoring.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0040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1752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Fleet-Level Aggregation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33756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multi-aircraft defect tracking across a fleet. Detect systemic structural patterns across registration IDs over time.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8076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01752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Security Module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21792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HSM-based authentication for report signing, ensuring tamper-proof maintenance records acceptable to airworthiness regulators.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14-Day PoC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1–4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Training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NEU dataset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augment_offline()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YOLOv8n/s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≥90% mAP baseline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5740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5740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5–6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5740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5740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Optimization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with CalibrationDataReader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INT8 mAP drop &lt;2%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&lt;30ms on CPU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79476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9476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7–9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9476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9476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Pipeline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8620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 module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InferenceSession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severity triage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on-demand integration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53212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3212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10–12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53212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local dashboard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heatmap overlay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defect log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offline PDF report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3232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26948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26948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6948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13–15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6948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2694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092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offline validation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(Win + Linux)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+ setup script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demo recording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00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InnoVent Timeline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657600"/>
            <a:ext cx="8503920" cy="0"/>
          </a:xfrm>
          <a:prstGeom prst="line">
            <a:avLst/>
          </a:prstGeom>
          <a:noFill/>
          <a:ln w="25400">
            <a:solidFill>
              <a:srgbClr val="1E406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92608" y="349300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-32004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-32004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July 2026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35808" y="3493008"/>
            <a:ext cx="320040" cy="3200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4231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231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~July 2026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79008" y="3493008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1663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1663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22208" y="349300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095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AeroSentinel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Intelligence for Aerospace MRO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Cygnus  |  Medi-Caps University, Indore  |  Tata Technologies InnoVent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Offline. Real-Time. Explainable.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cloud. No latency. No missed defects.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AeroSentinel — InnoVent 2026</dc:title>
  <dc:subject>PptxGenJS Presentation</dc:subject>
  <dc:creator>Team Cygnus</dc:creator>
  <cp:lastModifiedBy>Team Cygnus</cp:lastModifiedBy>
  <cp:revision>1</cp:revision>
  <dcterms:created xsi:type="dcterms:W3CDTF">2026-07-04T15:35:27Z</dcterms:created>
  <dcterms:modified xsi:type="dcterms:W3CDTF">2026-07-04T15:35:27Z</dcterms:modified>
</cp:coreProperties>
</file>